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  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275" y="2186880"/>
            <a:ext cx="11601450" cy="1809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oppins"/>
              </a:rPr>
              <a:t>Employee Attrition &amp; Salary Prediction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4187130"/>
            <a:ext cx="11049000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An End-to-End Machine Learning Solution for Workforce Decision-Making &amp; Talent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4750000"/>
            <a:ext cx="9192000" cy="1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ts val="2400"/>
              </a:lnSpc>
            </a:pPr>
            <a:r>
              <a:rPr sz="1500" b="0" i="0" u="none" lang="ar-EG">
                <a:solidFill>
                  <a:srgbClr val="475569"/>
                </a:solidFill>
                <a:latin typeface="Lato"/>
                <a:cs typeface="Traditional Arabic"/>
              </a:rPr>
              <a:t>عبدالرحمن أحمد إبراهيم</a:t>
            </a:r>
          </a:p>
          <a:p>
            <a:pPr algn="ctr" rtl="1">
              <a:lnSpc>
                <a:spcPts val="2400"/>
              </a:lnSpc>
            </a:pPr>
            <a:r>
              <a:rPr sz="1500" b="0" i="0" u="none" lang="ar-EG">
                <a:solidFill>
                  <a:srgbClr val="475569"/>
                </a:solidFill>
                <a:latin typeface="Lato"/>
                <a:cs typeface="Traditional Arabic"/>
              </a:rPr>
              <a:t>سيف الدين شريف عبدالفتاح</a:t>
            </a:r>
          </a:p>
          <a:p>
            <a:pPr algn="ctr" rtl="1">
              <a:lnSpc>
                <a:spcPts val="2400"/>
              </a:lnSpc>
            </a:pPr>
            <a:r>
              <a:rPr sz="1500" b="0" i="0" u="none" lang="ar-EG">
                <a:solidFill>
                  <a:srgbClr val="475569"/>
                </a:solidFill>
                <a:latin typeface="Lato"/>
                <a:cs typeface="Traditional Arabic"/>
              </a:rPr>
              <a:t>فارس محمد صلاح عبدالحميد سليمان</a:t>
            </a:r>
          </a:p>
          <a:p>
            <a:pPr algn="ctr" rtl="1">
              <a:lnSpc>
                <a:spcPts val="2400"/>
              </a:lnSpc>
            </a:pPr>
            <a:r>
              <a:rPr sz="1500" b="0" i="0" u="none" lang="ar-EG">
                <a:solidFill>
                  <a:srgbClr val="475569"/>
                </a:solidFill>
                <a:latin typeface="Lato"/>
                <a:cs typeface="Traditional Arabic"/>
              </a:rPr>
              <a:t>سيف الدين باسم ممدوح بركات</a:t>
            </a:r>
          </a:p>
          <a:p>
            <a:pPr algn="ctr" rtl="1">
              <a:lnSpc>
                <a:spcPts val="2400"/>
              </a:lnSpc>
            </a:pPr>
            <a:r>
              <a:rPr sz="1500" b="0" i="0" u="none" lang="ar-EG">
                <a:solidFill>
                  <a:srgbClr val="475569"/>
                </a:solidFill>
                <a:latin typeface="Lato"/>
                <a:cs typeface="Traditional Arabic"/>
              </a:rPr>
              <a:t>أحمد منتصر محمد أحمد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662237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0523" y="2890837"/>
            <a:ext cx="7630953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0F172A"/>
                </a:solidFill>
                <a:latin typeface="Poppins"/>
              </a:rPr>
              <a:t>Project Overview &amp;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2250" y="3852862"/>
            <a:ext cx="6667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Empowering workforce leaders with data-driven employee retention strategies and optimized compensation forecasting.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091928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Core Mission: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Build a dual-capability machine learning system to predict employee turnover risk and accurately estimate competitive salaries.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2941439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Data Foundation: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Leveraged extensive employee workforce datasets with rigorous feature selection, outlier handling, and SMOTE class balancing.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3790950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Advanced Modeling: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Utilized tuned Random Forest and XGBoost classifiers combined in a Soft Voting Ensemble to achieve superior generalization.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4640460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Organizational Impact: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Provides management teams with actionable insights to lower turnover costs, retain high-value talent, and streamline budgeting.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2110978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2960489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3810000"/>
            <a:ext cx="228600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5" y="4659510"/>
            <a:ext cx="28575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Executive Project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802" y="1276350"/>
            <a:ext cx="457497" cy="1809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6750" y="2125027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124075"/>
            <a:ext cx="5143500" cy="71973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Early Attrition Warning: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Identify flight risks among critical personnel before resignation occurs using behavioral and performance indicators.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2940010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939057"/>
            <a:ext cx="5143500" cy="4798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Salary Benchmarking: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Predict expected compensation accurately based on role seniority, experience, and educational background.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3515082"/>
            <a:ext cx="952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514129"/>
            <a:ext cx="5143500" cy="71973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334155"/>
                </a:solidFill>
                <a:latin typeface="Lato"/>
              </a:rPr>
              <a:t>Proactive Intervention:</a:t>
            </a:r>
            <a:r>
              <a:rPr sz="1350" b="0" i="0" u="none">
                <a:solidFill>
                  <a:srgbClr val="334155"/>
                </a:solidFill>
                <a:latin typeface="Lato"/>
              </a:rPr>
              <a:t> Enable department managers to target retention bonuses, career development, and salary adjustments effectively.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Core Objectives &amp; Workforce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35746"/>
            <a:ext cx="5334000" cy="231040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635746"/>
            <a:ext cx="5334000" cy="193893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2931021"/>
            <a:ext cx="4980622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Poppins"/>
              </a:rPr>
              <a:t>Initial Standard Employee Dataset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3788271"/>
            <a:ext cx="47434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Initial exploration of the standard employee dataset (~4,650 rows) revealed severe class imbalance and unnecessary noise that degraded model recall for minority resignation classes.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775" y="2931021"/>
            <a:ext cx="498062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Poppins"/>
              </a:rPr>
              <a:t>Scaling for Production Stability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3416796"/>
            <a:ext cx="474345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Migrated to a robust, scaled dataset containing nearly 3x more records, providing the statistical variance required to train high-accuracy classification and regression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Technical Challenge: Dataset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516683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SMOTE Data Balancing: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Resolved severe class skewness in turnover labels by generating synthetic minority samples during pipeline preprocessing.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3366194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Dual Pipeline Integration: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Seamlessly merged binary classification (attrition) and regression (salary) into a unified interactive software workflow.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4215705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Iterative Code Architecture: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Refactored the core pipeline 3 times to optimize feature encoders, eliminate data leakage, and ensure maximum system reliability.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2535733"/>
            <a:ext cx="2857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3385244"/>
            <a:ext cx="20002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4234755"/>
            <a:ext cx="2286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Engineering Challenges &amp; Solutions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662237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5313" y="2890837"/>
            <a:ext cx="10981372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0F172A"/>
                </a:solidFill>
                <a:latin typeface="Poppins"/>
              </a:rPr>
              <a:t>Comparative Benchmarking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62250" y="3852862"/>
            <a:ext cx="6667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Rigorous performance contrast mapping our enhanced pipeline directly against each original baseline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1018133"/>
          <a:ext cx="11048998" cy="5545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84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6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7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3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08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4563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Feature /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Our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Project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Project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Project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Project 4 (NTI)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6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Classification Models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XGBoost, Random Forest, Soft Voting Ensemble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Logistic Regression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XGBoost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Classification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56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Regression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Tuned XGBoost Regressor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Random Forest Regressor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—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56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Hyperparameter Tuning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✅ 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 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 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Limited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Limited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56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Class Imbalance Handling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✅ SMOTE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56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Feature Scaling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✅ StandardScaler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Not shown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456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Ensemble Learning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✅ Soft Voting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456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Interactive Prediction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✅ 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456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Predicts Employee Salary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✅ 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✅ 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4566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Predicts Employee Attrition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✅ 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✅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71500" y="1390501"/>
            <a:ext cx="21584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29954" y="1390501"/>
            <a:ext cx="301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46551" y="1390501"/>
            <a:ext cx="1797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543651" y="1390501"/>
            <a:ext cx="15034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47112" y="1390501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999612" y="1390501"/>
            <a:ext cx="1620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070348"/>
            <a:ext cx="21584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29954" y="2070348"/>
            <a:ext cx="301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46551" y="2070348"/>
            <a:ext cx="1797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43651" y="2070348"/>
            <a:ext cx="15034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47112" y="2070348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999612" y="2070348"/>
            <a:ext cx="1620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750194"/>
            <a:ext cx="21584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29954" y="2750194"/>
            <a:ext cx="301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46551" y="2750194"/>
            <a:ext cx="1797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651" y="2750194"/>
            <a:ext cx="15034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47112" y="2750194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999612" y="2750194"/>
            <a:ext cx="1620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3190130"/>
            <a:ext cx="21584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29954" y="3190130"/>
            <a:ext cx="301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46551" y="3190130"/>
            <a:ext cx="1797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543651" y="3190130"/>
            <a:ext cx="15034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47112" y="3190130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99612" y="3190130"/>
            <a:ext cx="1620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500" y="3869977"/>
            <a:ext cx="21584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29954" y="3869977"/>
            <a:ext cx="301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46551" y="3869977"/>
            <a:ext cx="1797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43651" y="3869977"/>
            <a:ext cx="15034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047112" y="3869977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999612" y="3869977"/>
            <a:ext cx="1620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1500" y="4309913"/>
            <a:ext cx="21584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29954" y="4309913"/>
            <a:ext cx="301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46551" y="4309913"/>
            <a:ext cx="1797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543651" y="4309913"/>
            <a:ext cx="15034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47112" y="4309913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999612" y="4309913"/>
            <a:ext cx="1620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71500" y="4749849"/>
            <a:ext cx="21584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729954" y="4749849"/>
            <a:ext cx="301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746551" y="4749849"/>
            <a:ext cx="1797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543651" y="4749849"/>
            <a:ext cx="15034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047112" y="4749849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999612" y="4749849"/>
            <a:ext cx="1620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71500" y="5429696"/>
            <a:ext cx="21584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729954" y="5429696"/>
            <a:ext cx="301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746551" y="5429696"/>
            <a:ext cx="1797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543651" y="5429696"/>
            <a:ext cx="15034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047112" y="5429696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999612" y="5429696"/>
            <a:ext cx="1620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571500" y="5869632"/>
            <a:ext cx="21584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729954" y="5869632"/>
            <a:ext cx="301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746551" y="5869632"/>
            <a:ext cx="1797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7543651" y="5869632"/>
            <a:ext cx="15034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047112" y="5869632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999612" y="5869632"/>
            <a:ext cx="1620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71500" y="6549479"/>
            <a:ext cx="215845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729954" y="6549479"/>
            <a:ext cx="301659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746551" y="6549479"/>
            <a:ext cx="1797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543651" y="6549479"/>
            <a:ext cx="15034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047112" y="6549479"/>
            <a:ext cx="9525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999612" y="6549479"/>
            <a:ext cx="16208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71500" y="294233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Comprehensive System &amp; Project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2937718"/>
          <a:ext cx="11048997" cy="1706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66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4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3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49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661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Recall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ROC-AUC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XGBoost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77.0%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63.3%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78.7%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70.2%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77.4%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1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Random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79.9%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75.7%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61.3%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67.7%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75.5%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18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Meta Model (Ensemble)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78.3%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67.4%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71.6%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69.4%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76.7%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71500" y="3310086"/>
            <a:ext cx="34950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066579" y="3310086"/>
            <a:ext cx="16266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93271" y="3310086"/>
            <a:ext cx="1594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87666" y="3310086"/>
            <a:ext cx="1223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11629" y="3310086"/>
            <a:ext cx="15138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025508" y="3310086"/>
            <a:ext cx="15949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750022"/>
            <a:ext cx="34950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066579" y="3750022"/>
            <a:ext cx="16266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93271" y="3750022"/>
            <a:ext cx="1594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87666" y="3750022"/>
            <a:ext cx="1223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11629" y="3750022"/>
            <a:ext cx="15138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25508" y="3750022"/>
            <a:ext cx="15949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189958"/>
            <a:ext cx="34950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66579" y="4189958"/>
            <a:ext cx="16266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93271" y="4189958"/>
            <a:ext cx="1594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87666" y="4189958"/>
            <a:ext cx="1223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511629" y="4189958"/>
            <a:ext cx="15138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0025508" y="4189958"/>
            <a:ext cx="15949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4629894"/>
            <a:ext cx="34950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66579" y="4629894"/>
            <a:ext cx="16266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93271" y="4629894"/>
            <a:ext cx="15943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87666" y="4629894"/>
            <a:ext cx="12239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11629" y="4629894"/>
            <a:ext cx="151387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025508" y="4629894"/>
            <a:ext cx="15949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Classification Metrics Deep Dive: Precision vs Recall vs F1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516683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XGBoost Profile: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Exceptional Recall (78.7%) ensures it catches most employees prone to leaving, though with lower Precision (63.3%) leading to more false alarms.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3366194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Random Forest Profile: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High Precision (75.7%) means fewer false alarms, but lower Recall (61.3%) causes it to miss a significant portion of actual flight risks.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4215705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Meta Model Balance: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Successfully balances Precision (67.4%) and Recall (71.6%) to deliver a stable, reliable F1-Score (69.4%) and steady overall generalization.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2535733"/>
            <a:ext cx="257175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3385244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4234755"/>
            <a:ext cx="28575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Model Performance Evaluation &amp; Trade-offs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802" y="1276350"/>
            <a:ext cx="457497" cy="180975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124075"/>
          <a:ext cx="5333999" cy="1706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61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Performance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Original Project 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Our Project (XGBoost)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1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Mean Absolute Error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5,740.69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4,136.87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15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Mean Squared Error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55.37 Million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26.88 Million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1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R² Score Precision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96.02%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98.07%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496442"/>
            <a:ext cx="18624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433935" y="2496442"/>
            <a:ext cx="1521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955107" y="2496442"/>
            <a:ext cx="1950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936378"/>
            <a:ext cx="18624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33935" y="2936378"/>
            <a:ext cx="1521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55107" y="2936378"/>
            <a:ext cx="1950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376314"/>
            <a:ext cx="18624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33935" y="3376314"/>
            <a:ext cx="1521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55107" y="3376314"/>
            <a:ext cx="1950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816250"/>
            <a:ext cx="18624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33935" y="3816250"/>
            <a:ext cx="15211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55107" y="3816250"/>
            <a:ext cx="19503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Salary Prediction: Our Model vs. Project 1</a:t>
            </a:r>
          </a:p>
        </p:txBody>
      </p:sp>
      <p:pic>
        <p:nvPicPr>
          <p:cNvPr id="18" name="image2.png">
            <a:extLst>
              <a:ext uri="{FF2B5EF4-FFF2-40B4-BE49-F238E27FC236}">
                <a16:creationId xmlns:a16="http://schemas.microsoft.com/office/drawing/2014/main" id="{BB477481-3DD9-D8BB-44EA-853A761033C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096000" y="1770072"/>
            <a:ext cx="5652773" cy="4383078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802" y="1276350"/>
            <a:ext cx="457497" cy="180975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135811"/>
              </p:ext>
            </p:extLst>
          </p:nvPr>
        </p:nvGraphicFramePr>
        <p:xfrm>
          <a:off x="180774" y="1801611"/>
          <a:ext cx="5333998" cy="2146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1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1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279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Evaluation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Original Project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Our Project (Ensemble)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7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Model 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~70.9%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79.9%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27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Overfitting Risk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Low (Generalizable)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279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Class Balancing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SMOTE Applied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283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Recall &amp; F1-Score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Sub-optimal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334155"/>
                          </a:solidFill>
                          <a:latin typeface="Lato"/>
                        </a:rPr>
                        <a:t>Robust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496442"/>
            <a:ext cx="1651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22599" y="2496442"/>
            <a:ext cx="1601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823692" y="2496442"/>
            <a:ext cx="2081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936378"/>
            <a:ext cx="1651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22599" y="2936378"/>
            <a:ext cx="1601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823692" y="2936378"/>
            <a:ext cx="2081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376314"/>
            <a:ext cx="1651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22599" y="3376314"/>
            <a:ext cx="1601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23692" y="3376314"/>
            <a:ext cx="2081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816250"/>
            <a:ext cx="1651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22599" y="3816250"/>
            <a:ext cx="1601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23692" y="3816250"/>
            <a:ext cx="2081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4256186"/>
            <a:ext cx="16510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22599" y="4256186"/>
            <a:ext cx="16010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23692" y="4256186"/>
            <a:ext cx="2081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Attrition Classification: Our Ensemble vs. Project 2</a:t>
            </a:r>
          </a:p>
        </p:txBody>
      </p:sp>
      <p:pic>
        <p:nvPicPr>
          <p:cNvPr id="21" name="image3.png">
            <a:extLst>
              <a:ext uri="{FF2B5EF4-FFF2-40B4-BE49-F238E27FC236}">
                <a16:creationId xmlns:a16="http://schemas.microsoft.com/office/drawing/2014/main" id="{3F2B172B-C50F-61AC-B7B9-CB2A71FD14C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26869" y="1412923"/>
            <a:ext cx="6184358" cy="5416499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802" y="1276350"/>
            <a:ext cx="457497" cy="180975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124075"/>
          <a:ext cx="5333999" cy="257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66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588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Evaluation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Original Project 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Our Project (Tuned Ensemble)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58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Hyperparameters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Default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Grid Search Tuned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58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Preprocessing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Basic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StandardScaler + SMOTE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58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Single XGBoost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RF + XGBoost Voting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588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Reliability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Moderate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High Reliability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2683073"/>
            <a:ext cx="159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62175" y="2683073"/>
            <a:ext cx="1436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598812" y="2683073"/>
            <a:ext cx="23066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123009"/>
            <a:ext cx="159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62175" y="3123009"/>
            <a:ext cx="1436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98812" y="3123009"/>
            <a:ext cx="23066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3562945"/>
            <a:ext cx="159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62175" y="3562945"/>
            <a:ext cx="1436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98812" y="3562945"/>
            <a:ext cx="23066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242792"/>
            <a:ext cx="159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62175" y="4242792"/>
            <a:ext cx="1436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598812" y="4242792"/>
            <a:ext cx="23066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4682728"/>
            <a:ext cx="1590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62175" y="4682728"/>
            <a:ext cx="14366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98812" y="4682728"/>
            <a:ext cx="23066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Attrition Classification: Tuned vs. Project 3</a:t>
            </a:r>
          </a:p>
        </p:txBody>
      </p:sp>
      <p:pic>
        <p:nvPicPr>
          <p:cNvPr id="21" name="image1.png">
            <a:extLst>
              <a:ext uri="{FF2B5EF4-FFF2-40B4-BE49-F238E27FC236}">
                <a16:creationId xmlns:a16="http://schemas.microsoft.com/office/drawing/2014/main" id="{25BAF59A-42AB-6652-FF2A-2EB577745DB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096000" y="1692552"/>
            <a:ext cx="5748020" cy="343598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71500" y="2124075"/>
          <a:ext cx="5333999" cy="2812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1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257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Evaluation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Original Project 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Poppins"/>
                        </a:rPr>
                        <a:t>Our Comprehensive 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57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Classification 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75.8%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Optimized (79.9%)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257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Generalization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Overfitting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High Generalization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2570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Balancing &amp; Scaling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Basic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Advanced (SMOTE)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571"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Functional Scope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Lato"/>
                        </a:rPr>
                        <a:t>Single Task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34155"/>
                          </a:solidFill>
                          <a:latin typeface="Lato"/>
                        </a:rPr>
                        <a:t>Dual Task (Salary &amp; Attrition)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571500" y="2683073"/>
            <a:ext cx="17939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365474" y="2683073"/>
            <a:ext cx="1398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764458" y="2683073"/>
            <a:ext cx="2141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362920"/>
            <a:ext cx="17939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365474" y="3362920"/>
            <a:ext cx="1398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764458" y="3362920"/>
            <a:ext cx="2141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3802856"/>
            <a:ext cx="17939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65474" y="3802856"/>
            <a:ext cx="1398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64458" y="3802856"/>
            <a:ext cx="2141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242792"/>
            <a:ext cx="17939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365474" y="4242792"/>
            <a:ext cx="1398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764458" y="4242792"/>
            <a:ext cx="2141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4922639"/>
            <a:ext cx="17939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365474" y="4922639"/>
            <a:ext cx="139898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64458" y="4922639"/>
            <a:ext cx="214104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NTI Benchmark: Our System vs. Project 4</a:t>
            </a:r>
          </a:p>
        </p:txBody>
      </p:sp>
      <p:pic>
        <p:nvPicPr>
          <p:cNvPr id="20" name="image4.png">
            <a:extLst>
              <a:ext uri="{FF2B5EF4-FFF2-40B4-BE49-F238E27FC236}">
                <a16:creationId xmlns:a16="http://schemas.microsoft.com/office/drawing/2014/main" id="{A4FC29CE-401E-C7EE-974A-42BD5D72248A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096000" y="1572220"/>
            <a:ext cx="5943600" cy="35814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2795587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0326" y="3024187"/>
            <a:ext cx="10771346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0F172A"/>
                </a:solidFill>
                <a:latin typeface="Poppins"/>
              </a:rPr>
              <a:t>System Architecture &amp; 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24187" y="3986212"/>
            <a:ext cx="61436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475569"/>
                </a:solidFill>
                <a:latin typeface="Lato"/>
              </a:rPr>
              <a:t>The robust engineering pipeline powering our machine learning predictions.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516683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Feature Selection: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Isolated high-impact variables (satisfaction scores, compensation, tenure, overtime) driving retention decisions.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3366194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StandardScaler Normalization: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Scaled numerical attributes to zero mean and unit variance for stable gradient convergence.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4215705"/>
            <a:ext cx="9572625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1575" b="1" i="0" u="none">
                <a:solidFill>
                  <a:srgbClr val="334155"/>
                </a:solidFill>
                <a:latin typeface="Lato"/>
              </a:rPr>
              <a:t>SMOTE Sampling:</a:t>
            </a:r>
            <a:r>
              <a:rPr sz="1575" b="0" i="0" u="none">
                <a:solidFill>
                  <a:srgbClr val="334155"/>
                </a:solidFill>
                <a:latin typeface="Lato"/>
              </a:rPr>
              <a:t> Counteracted class imbalance by generating synthetic minority instances to prevent majority-class bias.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2535733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5" y="3385244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4234755"/>
            <a:ext cx="2286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Data Preprocessing &amp; Feature Engineering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88121"/>
            <a:ext cx="3492549" cy="240565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588121"/>
            <a:ext cx="3492549" cy="24056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588121"/>
            <a:ext cx="3492549" cy="2405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3397746"/>
            <a:ext cx="31471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Poppins"/>
              </a:rPr>
              <a:t>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3883521"/>
            <a:ext cx="29972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Robust baseline classifier providing reliable feature importance metrics and bagging stability.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7449" y="3397746"/>
            <a:ext cx="31471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Poppins"/>
              </a:rPr>
              <a:t>XGBoost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883521"/>
            <a:ext cx="29972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Advanced gradient boosting optimized via hyperparameter tuning for maximum predictive precision.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749" y="3397746"/>
            <a:ext cx="31471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Poppins"/>
              </a:rPr>
              <a:t>Soft Voting Ensemble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749" y="3883521"/>
            <a:ext cx="29972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Combines probability outputs across models to guarantee top-tier classification reliability.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883396"/>
            <a:ext cx="3048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449" y="2883396"/>
            <a:ext cx="3048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749" y="2883396"/>
            <a:ext cx="390525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Machine Learning Modeling Pipeline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02383"/>
            <a:ext cx="3492549" cy="277713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402383"/>
            <a:ext cx="3492549" cy="27771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402383"/>
            <a:ext cx="3492549" cy="27771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" y="3212008"/>
            <a:ext cx="3147112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Poppins"/>
              </a:rPr>
              <a:t>Compensation &amp; Equity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" y="4069258"/>
            <a:ext cx="29972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Identified salary percentile and stock options as primary mitigants against voluntary employee turnover.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7449" y="3212008"/>
            <a:ext cx="31471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Poppins"/>
              </a:rPr>
              <a:t>Work-Life 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7449" y="3697783"/>
            <a:ext cx="29972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Overtime frequency and commuting distance serve as leading indicators of imminent burnout and resignation.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749" y="3212008"/>
            <a:ext cx="314711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2563EB"/>
                </a:solidFill>
                <a:latin typeface="Poppins"/>
              </a:rPr>
              <a:t>Tenure &amp; Promotion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749" y="3697783"/>
            <a:ext cx="2997249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334155"/>
                </a:solidFill>
                <a:latin typeface="Lato"/>
              </a:rPr>
              <a:t>Time elapsed since last promotion heavily correlates with stagnation risk in technical and sales roles.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697658"/>
            <a:ext cx="390525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7449" y="2697658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749" y="2697658"/>
            <a:ext cx="428625" cy="342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Feature Importance &amp; Explainability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3105150"/>
            <a:ext cx="53340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1" i="0" u="none">
                <a:solidFill>
                  <a:srgbClr val="2563EB"/>
                </a:solidFill>
                <a:latin typeface="Poppins"/>
              </a:rPr>
              <a:t>35%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4248150"/>
            <a:ext cx="5334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475569"/>
                </a:solidFill>
                <a:latin typeface="Lato"/>
              </a:rPr>
              <a:t>Turnover Cost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55701"/>
            <a:ext cx="5400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Poppins"/>
              </a:rPr>
              <a:t>Maximizing Workforce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384351"/>
            <a:ext cx="5143500" cy="1298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57"/>
              </a:lnSpc>
            </a:pPr>
            <a:r>
              <a:rPr sz="1650" b="0" i="0" u="none">
                <a:solidFill>
                  <a:srgbClr val="1E293B"/>
                </a:solidFill>
                <a:latin typeface="Lato"/>
              </a:rPr>
              <a:t>By catching flight risks early, human resources can allocate retention budgets efficiently, cutting recruitment overhead and preserving institutional knowledge across key company departments.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Business Impact &amp; Retention ROI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2586037"/>
            <a:ext cx="9572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Lato"/>
              </a:rPr>
              <a:t>Dual Predictive Capability: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Successfully integrated attrition classification and salary regression into a single robust workforce intelligence platform.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0" y="3405187"/>
            <a:ext cx="9572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Lato"/>
              </a:rPr>
              <a:t>Superior Generalization: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Leveraged SMOTE class balancing and Soft Voting Ensembles to achieve 79.9% accuracy and 70.2% XGB F1-score performance.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4224337"/>
            <a:ext cx="95726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Lato"/>
              </a:rPr>
              <a:t>Actionable HR Insights:</a:t>
            </a:r>
            <a:r>
              <a:rPr sz="1500" b="0" i="0" u="none">
                <a:solidFill>
                  <a:srgbClr val="CBD5E1"/>
                </a:solidFill>
                <a:latin typeface="Lato"/>
              </a:rPr>
              <a:t> Empowers management with proactive retention strategies, competitive benchmarking, and data-driven decision making.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2605087"/>
            <a:ext cx="22860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3424237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4243387"/>
            <a:ext cx="2286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5275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550" b="1" i="0" u="none">
                <a:solidFill>
                  <a:srgbClr val="FFFFFF"/>
                </a:solidFill>
                <a:latin typeface="Poppins"/>
              </a:rPr>
              <a:t>Project Summary &amp; Key Takeaways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275" y="2601217"/>
            <a:ext cx="11601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0F172A"/>
                </a:solidFill>
                <a:latin typeface="Poppins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820417"/>
            <a:ext cx="11049000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Thank you for your attention and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1066</Words>
  <Application>Microsoft Office PowerPoint</Application>
  <PresentationFormat>Widescreen</PresentationFormat>
  <Paragraphs>209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فارس محمد صلاح عبد الحميد سليمان</cp:lastModifiedBy>
  <cp:revision>2</cp:revision>
  <dcterms:created xsi:type="dcterms:W3CDTF">2013-01-27T09:14:16Z</dcterms:created>
  <dcterms:modified xsi:type="dcterms:W3CDTF">2026-07-21T21:15:43Z</dcterms:modified>
  <cp:category/>
</cp:coreProperties>
</file>